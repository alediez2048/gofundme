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REQUIREMENTS DOCUMENT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FundRight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Broken Donor Journey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Profile, Fundraiser &amp; Community Pages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Competitive Intelligence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 |  March 2026  |  v2.0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GoFundMe: A Fortress with a Leak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828800" cy="9144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24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97480" y="1005840"/>
            <a:ext cx="1828800" cy="9144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024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29.1M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9748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Backlinks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1828800" cy="9144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24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Visits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828800" cy="9144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024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338K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Referring Domains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240280"/>
            <a:ext cx="2514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240280"/>
            <a:ext cx="25146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-6.5%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77240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Erosion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7240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831K keywords declining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29000" y="2240280"/>
            <a:ext cx="2514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29000" y="2240280"/>
            <a:ext cx="25146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468880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97764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-1.5%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3566160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Decline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566160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3.1M visits softening MoM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217920" y="2240280"/>
            <a:ext cx="2514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217920" y="2240280"/>
            <a:ext cx="25146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68880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76656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6355080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Traffic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355080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acquiring new donors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5" name="Text 30"/>
          <p:cNvSpPr/>
          <p:nvPr/>
        </p:nvSpPr>
        <p:spPr>
          <a:xfrm>
            <a:off x="822960" y="39319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GoFundMe is being found by people who already know it exists.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not acquiring new donors through search.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Pages, Zero Cohesion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GoFundMe’s three core page types are disconnected silos.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5146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54864" cy="32461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Pages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/u/[username]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109728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DEINDEXED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noindex, nofollow on every page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Person schema markup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content — near-zero organic traffic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links to fundraisers or communities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29000" y="1325880"/>
            <a:ext cx="25146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1325880"/>
            <a:ext cx="54864" cy="3246120"/>
          </a:xfrm>
          <a:prstGeom prst="rect">
            <a:avLst/>
          </a:prstGeom>
          <a:solidFill>
            <a:srgbClr val="92400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087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Fundraiser Pages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06908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/f/[cause-slug]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11880" y="2103120"/>
            <a:ext cx="1097280" cy="27432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9" name="Text 15"/>
          <p:cNvSpPr/>
          <p:nvPr/>
        </p:nvSpPr>
        <p:spPr>
          <a:xfrm>
            <a:off x="361188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1188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DonateAction schema (no rich results)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links to community pages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entire organic burden alone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meta descriptions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17920" y="1325880"/>
            <a:ext cx="25146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17920" y="1325880"/>
            <a:ext cx="54864" cy="3246120"/>
          </a:xfrm>
          <a:prstGeom prst="rect">
            <a:avLst/>
          </a:prstGeom>
          <a:solidFill>
            <a:srgbClr val="92400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0876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5800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Pages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85800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/communities/[slug]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0" y="2103120"/>
            <a:ext cx="1097280" cy="27432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7" name="Text 22"/>
          <p:cNvSpPr/>
          <p:nvPr/>
        </p:nvSpPr>
        <p:spPr>
          <a:xfrm>
            <a:off x="640080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HOLLOW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40080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Organization or FAQ schema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og:type metadata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for far fewer keywords than potential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member profiles linking back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Performance Tax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audit: their tracking infrastructure actively interferes with the donor’s decision.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011680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463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463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Contentful Paint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2,210ms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Blocking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Contentful Paint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Index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fully visible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91840"/>
            <a:ext cx="7863840" cy="36576"/>
          </a:xfrm>
          <a:prstGeom prst="rect">
            <a:avLst/>
          </a:prstGeom>
          <a:solidFill>
            <a:srgbClr val="059669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Cause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 MB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page weight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6974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SDKs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cookies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122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FundRight: Three Layers, One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234440"/>
            <a:ext cx="594360" cy="594360"/>
          </a:xfrm>
          <a:prstGeom prst="oval">
            <a:avLst/>
          </a:prstGeom>
          <a:solidFill>
            <a:srgbClr val="059669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2984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88720" y="2331720"/>
            <a:ext cx="141732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331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LAYER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indexed with Person schema. AI impact summary transforms 260K thin pages into entity-rich content. Answers: “Is this organizer credible?”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105156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234440"/>
            <a:ext cx="594360" cy="594360"/>
          </a:xfrm>
          <a:prstGeom prst="oval">
            <a:avLst/>
          </a:prstGeom>
          <a:solidFill>
            <a:srgbClr val="2563EB">
              <a:alpha val="8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29844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Fundraiser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977640" y="2331720"/>
            <a:ext cx="141732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2"/>
          <p:cNvSpPr/>
          <p:nvPr/>
        </p:nvSpPr>
        <p:spPr>
          <a:xfrm>
            <a:off x="3977640" y="2331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LAYER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611880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DonateAction schema + AI impact projections. Rich SERP cards. Sticky donation widget. Answers: “Should I give to this cause?”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05156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32320" y="1234440"/>
            <a:ext cx="594360" cy="594360"/>
          </a:xfrm>
          <a:prstGeom prst="oval">
            <a:avLst/>
          </a:prstGeom>
          <a:solidFill>
            <a:srgbClr val="92400E">
              <a:alpha val="8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9844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766560" y="2331720"/>
            <a:ext cx="1417320" cy="256032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3" name="Text 18"/>
          <p:cNvSpPr/>
          <p:nvPr/>
        </p:nvSpPr>
        <p:spPr>
          <a:xfrm>
            <a:off x="6766560" y="2331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LAYER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00800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+ FAQ schema. AI Cause Intelligence. Entry point for non-branded search. Answers: “What causes can I support?”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38404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 →  Community  →  Fundraiser  →  Profile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reinforces every other. A single backlink distributes equity across all three.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 Content Infrastructure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Build-time generation with static fallback. Zero runtime API cost.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960120"/>
          </a:xfrm>
          <a:prstGeom prst="rect">
            <a:avLst/>
          </a:prstGeom>
          <a:solidFill>
            <a:srgbClr val="0A2F2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00200"/>
            <a:ext cx="502920" cy="502920"/>
          </a:xfrm>
          <a:prstGeom prst="oval">
            <a:avLst/>
          </a:prstGeom>
          <a:solidFill>
            <a:srgbClr val="0596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7335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Intelligence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4592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200–300 word cause summaries. Pre-built at compile time. Fills the content gap that’s driving keyword erosion.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7863840" cy="960120"/>
          </a:xfrm>
          <a:prstGeom prst="rect">
            <a:avLst/>
          </a:prstGeom>
          <a:solidFill>
            <a:srgbClr val="0A2F24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2788920"/>
            <a:ext cx="502920" cy="502920"/>
          </a:xfrm>
          <a:prstGeom prst="oval">
            <a:avLst/>
          </a:prstGeom>
          <a:solidFill>
            <a:srgbClr val="05966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6207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Projections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Fundraiser Page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645920" y="30632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$50 means 200 families receive real-time wildfire alerts.” Client-side math from causeImpactMap. Instant, emotional, zero latency.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3794760"/>
            <a:ext cx="7863840" cy="960120"/>
          </a:xfrm>
          <a:prstGeom prst="rect">
            <a:avLst/>
          </a:prstGeom>
          <a:solidFill>
            <a:srgbClr val="0A2F24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3977640"/>
            <a:ext cx="502920" cy="502920"/>
          </a:xfrm>
          <a:prstGeom prst="oval">
            <a:avLst/>
          </a:prstGeom>
          <a:solidFill>
            <a:srgbClr val="05966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5079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Impact Summary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02920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Page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645920" y="42519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sentence narrative from fundraising history. Transforms 260K+ thin profile pages into substantive entity pages at scale. The key move.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GoFundMe runs Next.js 14.2.25 (Pages Router). We align with proven patterns, diverge where the audit found weakness.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35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(App Router)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SSR/SSG + route-level code splitting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2588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54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435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Responsive-concurrent design system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46888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+ persist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cross-page state management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46888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46888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974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(build-time)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infrastructure, not runtime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61188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0080" y="361188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84048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3721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Beacon API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3716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analytics layer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361188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61188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4048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21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generators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4864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schema stack on all page types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Instrumentation That Measures the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115568"/>
            <a:ext cx="457200" cy="457200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078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LCP, TBT, CLS, INP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per page template. Targeting 90+ vs their 45.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87452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1984248"/>
            <a:ext cx="457200" cy="45720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1947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verification clicks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Profile-to-fundraiser flow. Follow button CTR. AI summary engagement.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7432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743200"/>
            <a:ext cx="54864" cy="68580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2852928"/>
            <a:ext cx="457200" cy="457200"/>
          </a:xfrm>
          <a:prstGeom prst="oval">
            <a:avLst/>
          </a:prstGeom>
          <a:solidFill>
            <a:srgbClr val="92400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2816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donation funnel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834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→ Fundraiser → Donate. Share clicks (backlink generator).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6118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611880"/>
            <a:ext cx="54864" cy="685800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721608"/>
            <a:ext cx="457200" cy="457200"/>
          </a:xfrm>
          <a:prstGeom prst="oval">
            <a:avLst/>
          </a:prstGeom>
          <a:solidFill>
            <a:srgbClr val="44403C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54480" y="3685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5448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703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exploration paths. Cross-page navigation depth.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visible at /analytics — the evaluator sees their own session data in real time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Performance: FundRight vs. GoFundMe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GoFundMe numbers from real Lighthouse audit (March 2026).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4114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GoFundMe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≤1.8s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2.8x faster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solidFill>
            <a:srgbClr val="E8E6E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≤150ms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2,210ms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14.7x faster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Weight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≤800 KiB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4,403 KiB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5.5x lighter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solidFill>
            <a:srgbClr val="E8E6E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3rd-Party Scripts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2971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2971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2971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342900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3rd-Party Cookies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6888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8056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9224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solidFill>
            <a:srgbClr val="E8E6E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Headers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68880" y="3886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80560" y="3886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92240" y="3886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coverage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Static generation  |  Zero SDK analytics  |  next/image optimization  |  Beacon API  |  Route-level code splitting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tickets  ·  64 hours  ·  3 phases  ·  14 days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14600" cy="594360"/>
          </a:xfrm>
          <a:prstGeom prst="rect">
            <a:avLst/>
          </a:prstGeom>
          <a:solidFill>
            <a:srgbClr val="0A2F2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2514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MVP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19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  ·  30h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514600" cy="594360"/>
          </a:xfrm>
          <a:prstGeom prst="rect">
            <a:avLst/>
          </a:prstGeom>
          <a:solidFill>
            <a:srgbClr val="0A2F24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417320"/>
            <a:ext cx="2514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Intelligence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1719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8–11  ·  22h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514600" cy="594360"/>
          </a:xfrm>
          <a:prstGeom prst="rect">
            <a:avLst/>
          </a:prstGeom>
          <a:solidFill>
            <a:srgbClr val="0A2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417320"/>
            <a:ext cx="2514600" cy="54864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Ship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719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12–14  ·  12h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04288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88720" y="2286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interconnected pages with cross-page reactivity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24328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8872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infrastructure solving keyword erosion at scale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44368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8872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Journey-aware instrumentation (trust, conversion, discovery)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6440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3246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3x–14x performance improvement grounded in Lighthouse data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584448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3566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schema stack exploiting every SEO gap identified</a:t>
            </a:r>
            <a:endParaRPr lang="en-US" sz="12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04488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88720" y="3886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dashboard showing the evaluator’s own session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2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Execute Phase 1 — Scaffold, Seed Data, and Three Interactive Pages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FundRight — Fixing the Broken Donor Journey</dc:title>
  <dc:subject>PptxGenJS Presentation</dc:subject>
  <dc:creator>Alex</dc:creator>
  <cp:lastModifiedBy>Alex</cp:lastModifiedBy>
  <cp:revision>1</cp:revision>
  <dcterms:created xsi:type="dcterms:W3CDTF">2026-03-09T16:48:37Z</dcterms:created>
  <dcterms:modified xsi:type="dcterms:W3CDTF">2026-03-09T16:48:37Z</dcterms:modified>
</cp:coreProperties>
</file>